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049000" cy="590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762" y="1793676"/>
            <a:ext cx="3419475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3906" y="2336601"/>
            <a:ext cx="9501187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1" sz="4350" i="0" u="none">
                <a:solidFill>
                  <a:srgbClr val="FFFFFF"/>
                </a:solidFill>
                <a:latin typeface="Poppins"/>
              </a:rPr>
              <a:t>Prevención y Combate de Incendios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5950" y="3797498"/>
            <a:ext cx="7277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Lato"/>
              </a:rPr>
              <a:t>Kit de Capacitación Especializada para Personal Operativo de Seguridad Privada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76250"/>
            <a:ext cx="5390673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Obligatoriedad del 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453580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oppins"/>
              </a:rPr>
              <a:t>Marco Legal de Morelos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01255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La Ley de Seguridad Privada del Estado de Morelos exige la capacitación obligatoria en el "ABC del Fuego" para todo el personal operativo.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640335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oppins"/>
              </a:rPr>
              <a:t>Respuesta Inmediata y Segura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088010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Un guardia sin formación teórica y práctica no puede actuar ante un conato de incendio con seguridad, poniendo en riesgo vidas e instalaciones.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625030"/>
            <a:ext cx="5067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Combustible: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Material sólido, líquido o gaseoso capaz de arder.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034605"/>
            <a:ext cx="5067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Oxígeno: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Agente comburente presente en el aire atmosférico.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444180"/>
            <a:ext cx="5067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Calor: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Energía de activación suficiente para elevar la temperatura.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853755"/>
            <a:ext cx="50673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Tetraedro del Fuego: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Incorpora la reacción en cadena sostenida.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263330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Principio de Extinción: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Eliminar cualquiera de estos elementos apaga el fuego de forma inmediata.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El Triángulo del Fuego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44080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53655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3230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72805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82380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86892"/>
            <a:ext cx="3492549" cy="2981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86892"/>
            <a:ext cx="3492549" cy="2981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86892"/>
            <a:ext cx="3492549" cy="2981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582167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07624" y="3515617"/>
            <a:ext cx="122015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Clase A y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44242"/>
            <a:ext cx="290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Clase A: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Sólidos comunes (madera, papel, cartón, tela).</a:t>
            </a:r>
            <a:r>
              <a:t>
</a:t>
            </a:r>
            <a:r>
              <a:rPr b="1" sz="1200" i="0" u="none">
                <a:solidFill>
                  <a:srgbClr val="475569"/>
                </a:solidFill>
                <a:latin typeface="Lato"/>
              </a:rPr>
              <a:t>Clase B: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Líquidos y gases inflamables (gasolina, pintura, solventes).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582167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70946" y="3515617"/>
            <a:ext cx="850106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Clase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944242"/>
            <a:ext cx="290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Equipos Eléctricos: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Motores, tableros energizados, transformadores y electrodomésticos. Requieren agentes no conductores.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299" y="2582167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59222" y="3515617"/>
            <a:ext cx="123015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Clase D y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944242"/>
            <a:ext cx="29019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Lato"/>
              </a:rPr>
              <a:t>Clase D: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Metales combustibles (magnesio, sodio).</a:t>
            </a:r>
            <a:r>
              <a:t>
</a:t>
            </a:r>
            <a:r>
              <a:rPr b="1" sz="1200" i="0" u="none">
                <a:solidFill>
                  <a:srgbClr val="475569"/>
                </a:solidFill>
                <a:latin typeface="Lato"/>
              </a:rPr>
              <a:t>Clase K:</a:t>
            </a:r>
            <a:r>
              <a:rPr b="0" sz="1200" i="0" u="none">
                <a:solidFill>
                  <a:srgbClr val="475569"/>
                </a:solidFill>
                <a:latin typeface="Lato"/>
              </a:rPr>
              <a:t> Aceites y grasas de cocina a altas temperaturas.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1487" y="2763142"/>
            <a:ext cx="352425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9787" y="2763142"/>
            <a:ext cx="35242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8087" y="2763142"/>
            <a:ext cx="352425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Clases de Fuego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777430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Extintores a Base de Agua: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Diseñados exclusivamente para fuego Clase A. </a:t>
            </a:r>
            <a:r>
              <a:rPr b="0" sz="1350" i="1" u="none">
                <a:solidFill>
                  <a:srgbClr val="334155"/>
                </a:solidFill>
                <a:latin typeface="Lato"/>
              </a:rPr>
              <a:t>¡Jamás utilizar en incendios eléctricos!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444180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Extintores de CO2 (Dióxido de Carbono):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Desplazan el oxígeno y enfrían. Ideales para fuego Clase C sin dejar residuos.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110930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Polvo Químico Seco (PQS):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Extintores universales para fuegos Clase A, B y C. Rompen la reacción en cadena.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Tipos de Extintores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96480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63230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29980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53805"/>
            <a:ext cx="2430660" cy="1095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2586930"/>
            <a:ext cx="2430660" cy="1095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860" y="4253805"/>
            <a:ext cx="2430660" cy="1095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541" y="2586930"/>
            <a:ext cx="2430660" cy="10953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4900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754" y="4415730"/>
            <a:ext cx="22121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C2626"/>
                </a:solidFill>
                <a:latin typeface="Poppins"/>
              </a:rPr>
              <a:t>1. Pull (Jalar)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758630"/>
            <a:ext cx="210681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Jalar el seguro y romper el sello de plástico de la palanca.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435" y="2748855"/>
            <a:ext cx="22121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C2626"/>
                </a:solidFill>
                <a:latin typeface="Poppins"/>
              </a:rPr>
              <a:t>2. Aim (Apuntar)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6105" y="3091755"/>
            <a:ext cx="210681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Apuntar la manguera hacia la base del fuego, no a las llamas.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115" y="4415730"/>
            <a:ext cx="22121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C2626"/>
                </a:solidFill>
                <a:latin typeface="Poppins"/>
              </a:rPr>
              <a:t>3. Squeeze (Oprimir)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8785" y="4758630"/>
            <a:ext cx="210681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Oprimir la palanca superior para descargar el agente extintor.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8796" y="2748855"/>
            <a:ext cx="22121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DC2626"/>
                </a:solidFill>
                <a:latin typeface="Poppins"/>
              </a:rPr>
              <a:t>4. Sweep (Barrer)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51466" y="3091755"/>
            <a:ext cx="210681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Lato"/>
              </a:rPr>
              <a:t>Barrer de lado a lado cubriendo toda la base del fuego.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Técnica PASS Paso a Paso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72530" y="385375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45210" y="385375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17891" y="385375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90571" y="385375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76250"/>
            <a:ext cx="5390673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Identificación de Riesgos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453580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oppins"/>
              </a:rPr>
              <a:t>Puntos Críticos en el Sitio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01255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Revisión permanente de tableros eléctricos sobrecargados, acumulación inadecuada de materiales inflamables y salidas bloqueadas.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914626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oppins"/>
              </a:rPr>
              <a:t>Inspección Preventiva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301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Un recorrido periódico por las instalaciones permite detectar factores de riesgo antes de que se conviertan en siniestros.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444055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Activación de Alarma: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Notificar inmediatamente ante cualquier conato fuera de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110805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Guía Ordenada: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Conducir al personal firmemente hacia las rutas señalizadas de evacuación.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77555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Llegada al Punto Seguro: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Reunir al grupo en la zona de menor riesgo previamente designada.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444305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Pase de Lista: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Realizar el conteo minucioso de personas para confirmar que no falte nadie.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Protocolo de Evacuación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63105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29855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96605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63355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476250"/>
            <a:ext cx="5390673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Rutas y Puntos de Reunión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590800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oppins"/>
              </a:rPr>
              <a:t>Memoria vs. Improvisación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38475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Las rutas de evacuación deben conocerse de memoria por el guardia de seguridad; no se improvisa durante la emergencia.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77555"/>
            <a:ext cx="555069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oppins"/>
              </a:rPr>
              <a:t>Verificación Continua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225230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Inspeccionar habitualmente que la señalización esté visible, iluminada y completamente libre de obstáculos.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444055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Ubicación Exacta: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Proporcionar dirección precisa, referencias y accesos habilitados.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110805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Tipo de Incendio: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Informar la clase de fuego y materiales involucrados en la zona.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777555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Personas en Riesgo: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Reportar inmediatamente si hay atrapados o lesionados.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444305"/>
            <a:ext cx="5067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Comunicación Eficiente: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Mantener un reporte claro y breve desde el primer contacto telefónico.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Coordinación con Bomberos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63105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29855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96605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63355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0755"/>
            <a:ext cx="5334000" cy="213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091755"/>
            <a:ext cx="4572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0" sz="8250" i="0" u="none">
                <a:solidFill>
                  <a:srgbClr val="EF4444"/>
                </a:solidFill>
                <a:latin typeface="Poppins ExtraBold"/>
              </a:rPr>
              <a:t>10s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234755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Lato"/>
              </a:rPr>
              <a:t>Límite Crítico de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010792"/>
            <a:ext cx="56007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Poppins"/>
              </a:rPr>
              <a:t>Criterio de Seguridad Absoluto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28701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Si el extintor no controla el fuego en los primeros 10 segundos, </a:t>
            </a:r>
            <a:r>
              <a:rPr b="1" sz="1350" i="0" u="none">
                <a:solidFill>
                  <a:srgbClr val="334155"/>
                </a:solidFill>
                <a:latin typeface="Lato"/>
              </a:rPr>
              <a:t>se debe evacuar de inmediato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1566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La vida de las personas y del propio personal operativo siempre tiene máxima prioridad sobre cualquier bien material.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Combate vs. Evacuación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9317"/>
            <a:ext cx="5334000" cy="2276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39317"/>
            <a:ext cx="5334000" cy="2276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10805"/>
            <a:ext cx="48806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oppins"/>
              </a:rPr>
              <a:t>Resumen Operativo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58480"/>
            <a:ext cx="4648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Identificar el fuego rápidamente, combatirlo solo si es un conato incipiente y evacuar sin dudar cuando la situación represente peligro.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982217"/>
            <a:ext cx="488061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C2626"/>
                </a:solidFill>
                <a:latin typeface="Poppins"/>
              </a:rPr>
              <a:t>Proceso de Acreditación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429892"/>
            <a:ext cx="46482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Examen Escrito: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20 reactivos (Calificación mínima: 80%).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334155"/>
                </a:solidFill>
                <a:latin typeface="Lato"/>
              </a:rPr>
              <a:t>Evaluación Práctica: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Operación real de extintores y maniobra de evacuación.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Evaluación y Cierre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71737" y="1467742"/>
            <a:ext cx="72485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71737" y="2239267"/>
            <a:ext cx="72485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71737" y="3010792"/>
            <a:ext cx="72485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71737" y="3782317"/>
            <a:ext cx="72485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71737" y="4553842"/>
            <a:ext cx="72485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71737" y="2229742"/>
            <a:ext cx="7248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71737" y="2229742"/>
            <a:ext cx="7248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71737" y="3001267"/>
            <a:ext cx="7248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71737" y="3001267"/>
            <a:ext cx="7248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71737" y="3772792"/>
            <a:ext cx="7248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71737" y="3772792"/>
            <a:ext cx="7248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71737" y="4544317"/>
            <a:ext cx="7248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71737" y="4544317"/>
            <a:ext cx="7248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71737" y="5315842"/>
            <a:ext cx="7248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71737" y="5315842"/>
            <a:ext cx="7248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737" y="161061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67112" y="1617761"/>
            <a:ext cx="6153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https://www.alertmedia.com/wp-content/uploads/2022/09/Blog-FireSafety-Training-v1-1024x536.jpg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7112" y="1851124"/>
            <a:ext cx="6153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www.alertmedia.com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737" y="2382142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67112" y="2389286"/>
            <a:ext cx="6153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https://www.highspeedtraining.co.uk/hub/wp-content/uploads/2016/03/fire-triangle-combustion.jpg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7112" y="2622649"/>
            <a:ext cx="6153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www.highspeedtraining.co.uk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737" y="3153667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67112" y="3160811"/>
            <a:ext cx="6153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https://www.marsden-fire-safety.co.uk/wp-content/uploads/2022/01/Extinguisher-class-and-colour.png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7112" y="3394174"/>
            <a:ext cx="6153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www.marsden-fire-safety.co.uk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1737" y="3925192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67112" y="3932336"/>
            <a:ext cx="6153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https://www.labbieelectrical.com/wp-content/uploads/2023/06/Electrical-Fire-Safety-Checklist-E939.png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7112" y="4165699"/>
            <a:ext cx="6153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www.labbieelectrical.com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1737" y="4696717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567112" y="4703861"/>
            <a:ext cx="6153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https://as2.ftcdn.net/v2/jpg/20/58/53/71/1000_F_2058537128_MNItDeusZUIMdISiCJuYxyWVmLN7pJ3I.jpg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7112" y="4937224"/>
            <a:ext cx="6153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www.posters.cz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1737" y="5468242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567112" y="5475386"/>
            <a:ext cx="61531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https://safetybox.co.uk/media/catalog/product/cache/1/original/emergency-assembly-point-aluminium-sign-3.jpg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7112" y="5708749"/>
            <a:ext cx="6153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safetybox.co.uk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Image 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062" y="3539430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81437" y="3546574"/>
            <a:ext cx="55245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https://media.defense.gov/2026/Jun/26/2003954670/1920/1080/0/260609-D-D0441-5432.JPG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1437" y="3779936"/>
            <a:ext cx="552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www.dla.mil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476250"/>
            <a:ext cx="11441430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57150" cy="4113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